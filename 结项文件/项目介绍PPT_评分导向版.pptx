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26517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项目介绍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265176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设计新颖 20分</a:t>
            </a:r>
            <a:br/>
            <a:r>
              <a:t>应用价值 35分</a:t>
            </a:r>
            <a:br/>
            <a:r>
              <a:t>技术价值 45分</a:t>
            </a:r>
            <a:br/>
            <a:r>
              <a:t>技术分享 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325880"/>
            <a:ext cx="72237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600" b="1">
                <a:solidFill>
                  <a:srgbClr val="162B42"/>
                </a:solidFill>
                <a:latin typeface="Microsoft YaHei"/>
              </a:defRPr>
            </a:pPr>
            <a:r>
              <a:t>基于智能体引导的</a:t>
            </a:r>
            <a:br/>
            <a:r>
              <a:t>个性化编程学习平台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3017520"/>
            <a:ext cx="65836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800" b="0">
                <a:solidFill>
                  <a:srgbClr val="707C8B"/>
                </a:solidFill>
                <a:latin typeface="Microsoft YaHei"/>
              </a:defRPr>
            </a:pPr>
            <a:r>
              <a:t>面向编程学习全过程的 Web 智能教学辅助系统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3931920"/>
            <a:ext cx="6675120" cy="160020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594859"/>
            <a:ext cx="66751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首页截图 / 系统 Logo 占位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989320"/>
            <a:ext cx="65836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00" b="0">
                <a:solidFill>
                  <a:srgbClr val="707C8B"/>
                </a:solidFill>
                <a:latin typeface="Microsoft YaHei"/>
              </a:defRPr>
            </a:pPr>
            <a:r>
              <a:t>团队：XXX    指导老师：XXX    日期：2026年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汇报总览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评分导向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评分导向的汇报结构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按评分权重组织内容，让评委快速看到项目价值。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2423160" cy="1874519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1874519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56816"/>
            <a:ext cx="21305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设计新颖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59152"/>
            <a:ext cx="2130552" cy="12527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突出产品差异：学习闭环 + 多智能体 + 用户画像。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423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205EA6"/>
                </a:solidFill>
                <a:latin typeface="Microsoft YaHei"/>
              </a:defRPr>
            </a:pPr>
            <a:r>
              <a:t>20分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2423160" cy="1874519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73152" cy="1874519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56816"/>
            <a:ext cx="21305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359152"/>
            <a:ext cx="2130552" cy="12527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说明落地场景：课程辅助、课后练习、小规模试用。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40480"/>
            <a:ext cx="2423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2A8B61"/>
                </a:solidFill>
                <a:latin typeface="Microsoft YaHei"/>
              </a:defRPr>
            </a:pPr>
            <a:r>
              <a:t>35分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828800"/>
            <a:ext cx="2423160" cy="1874519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828800"/>
            <a:ext cx="73152" cy="1874519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1" y="1956816"/>
            <a:ext cx="21305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1" y="2359152"/>
            <a:ext cx="2130552" cy="12527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展示实现能力：架构、上下文、画像、评测、部署。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840480"/>
            <a:ext cx="2423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E68F35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3999" y="1828800"/>
            <a:ext cx="2423160" cy="1874519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999" y="1828800"/>
            <a:ext cx="73152" cy="1874519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1" y="1956816"/>
            <a:ext cx="21305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附加分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1" y="2359152"/>
            <a:ext cx="2130552" cy="125272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准备公开技术总结与开发心得分享。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840480"/>
            <a:ext cx="2423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CD5555"/>
                </a:solidFill>
                <a:latin typeface="Microsoft YaHei"/>
              </a:defRPr>
            </a:pPr>
            <a:r>
              <a:t>5分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600" b="1">
                <a:solidFill>
                  <a:srgbClr val="162B42"/>
                </a:solidFill>
                <a:latin typeface="Microsoft YaHei"/>
              </a:defRPr>
            </a:pPr>
            <a:r>
              <a:t>建议讲述顺序：市场痛点 → 产品差异 → 应用场景 → 技术架构 → 成果展示 → 推广与总结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设计新颖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项目背景：编程学习的真实卡点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编程学习不是只缺资料，而是缺少连续、具体、能跟随学习状态变化的指导。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0515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概念理解难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函数、递归、算法等知识点抽象，初学者容易“看过但不会用”。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05156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练习迁移难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课程例子能看懂，但换一道题就不知道如何拆输入、处理和输出。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05156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反馈不够细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传统判题多给对错，缺少面向当前问题的解释和下一步建议。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08960"/>
            <a:ext cx="73152" cy="1051560"/>
          </a:xfrm>
          <a:prstGeom prst="rect">
            <a:avLst/>
          </a:prstGeom>
          <a:solidFill>
            <a:srgbClr val="2E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学习状态难沉淀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提示查看、连续失败、停留时长等数据很少真正进入教学反馈。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08960"/>
            <a:ext cx="73152" cy="1051560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AI 问答易脱节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普通聊天工具缺少课程、题目和历史上下文，容易答非所问。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440680"/>
            <a:ext cx="10652760" cy="50292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54980"/>
            <a:ext cx="106527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痛点示意图 / 用户学习流程卡点图占位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设计新颖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市场现有应用对比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本项目的重点不是“再做一个聊天机器人”，而是把学习过程做成闭环。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516636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23444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48737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课程平台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4873752" cy="6126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内容较静态，缺少即时答疑；本项目支持课程学习后直接提问和练习。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16636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73152" cy="123444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865376"/>
            <a:ext cx="48737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刷题平台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267712"/>
            <a:ext cx="4873752" cy="6126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更关注结果判定；本项目支持提示、讲思路和代码反馈。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91840"/>
            <a:ext cx="516636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91840"/>
            <a:ext cx="73152" cy="123444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419856"/>
            <a:ext cx="48737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AI 问答工具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822191"/>
            <a:ext cx="4873752" cy="6126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缺少课程/题目上下文；本项目由用户代理先补全上下文再分发。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291840"/>
            <a:ext cx="516636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291840"/>
            <a:ext cx="73152" cy="1234440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3419856"/>
            <a:ext cx="48737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学习记录工具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822191"/>
            <a:ext cx="4873752" cy="6126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数据很少参与教学；本项目由个性化代理维护用户画像。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9966960" cy="64008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49240"/>
            <a:ext cx="99669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竞品差异表 / 市场对比图占位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设计新颖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项目定位与核心目标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面向编程学习者的个性化 Web 学习平台。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14300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降低学习门槛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不懂概念、不会做题、代码出错时，都能获得贴近上下文的指导。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14300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形成学习闭环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从知识点学习到练习、评测、反馈和推荐，减少学习环节割裂。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14300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沉淀用户画像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基于真实学习行为判断用户状态，为推荐和输出策略提供依据。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526280"/>
            <a:ext cx="10652760" cy="96012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69180"/>
            <a:ext cx="106527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学-练-问-评-荐产品闭环图占位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35分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产品功能闭环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平台已实现课程、题库、智能体、评测和个人中心等核心模块。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课程学习：按知识点组织 Python 基础内容，支持学习进度记录。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题库练习：提供不同主题与难度的编程题，支持题目详情和代码提交。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智能问答：回答概念、语法、思路和追问，结合历史对话减少脱节。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练习代理：支持生成题目、讲解当前题、给提示或参考答案。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代码评测：对提交代码进行检测，并生成问题原因和修改建议。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个人中心：展示学习进度、行为数据、薄弱点和推荐内容。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737360"/>
            <a:ext cx="4709160" cy="388620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543300"/>
            <a:ext cx="47091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系统功能总览截图占位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35分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典型使用场景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用具体学习场景说明应用落地方式。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09728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学习后出题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学生学习函数概念后，要求生成一道使用函数的简单编程题。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09728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围绕题目追问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学生说“我不会”“再讲详细一点”，系统能定位到上一道题继续讲。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09728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提交代码评测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系统指出错误原因、修改建议和下一步练习方向。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54679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54679"/>
            <a:ext cx="73152" cy="1097280"/>
          </a:xfrm>
          <a:prstGeom prst="rect">
            <a:avLst/>
          </a:prstGeom>
          <a:solidFill>
            <a:srgbClr val="2E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8269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个性化推荐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85031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根据首次通过率、提示查看、连续失败等数据推荐学习内容。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54679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79"/>
            <a:ext cx="73152" cy="1097280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8269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教师辅助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85031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可作为课后答疑和练习辅助工具，减少重复解释。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154679"/>
            <a:ext cx="3337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154679"/>
            <a:ext cx="73152" cy="109728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28269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比赛演示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685031"/>
            <a:ext cx="3044952" cy="4754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用三个不同水平账号展示同一问题下的个性化输出差异。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303520"/>
            <a:ext cx="10652760" cy="59436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63540"/>
            <a:ext cx="106527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场景演示截图组合占位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35分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应用落地与推广可行性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项目当前定位为教学辅助和小规模试用，落地路径清晰。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14300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已具备原型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系统已支持 Web 访问、账号登录、课程学习、题库练习、智能体对话和个人中心。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14300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教学场景明确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适合 Python 入门课程、实验课、课后练习、课程设计和竞赛展示。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14300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部署成本可控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小规模并发可用普通云服务器支撑，模型调用可通过限流和缓存控制成本。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297680"/>
            <a:ext cx="9875520" cy="114300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32020"/>
            <a:ext cx="9875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推广路径 / 部署架构图占位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技术架构：多智能体协作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不同智能体各司其职，减少单一模型处理全部任务带来的混乱。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0515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用户代理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读取历史对话，优化用户输入，补全必要上下文。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05156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主代理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只负责意图判断和任务分发，不再处理用户画像。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051560"/>
          </a:xfrm>
          <a:prstGeom prst="rect">
            <a:avLst/>
          </a:prstGeom>
          <a:solidFill>
            <a:srgbClr val="2E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问答代理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回答概念、原理、用法等问题，并读取画像调整表达。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08960"/>
            <a:ext cx="73152" cy="105156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练习代理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生成题目、解释当前题、提供提示和参考答案。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08960"/>
            <a:ext cx="73152" cy="105156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评测代理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分析用户代码，给出错误定位和修改反馈。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108960"/>
            <a:ext cx="73152" cy="1051560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个性化代理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统一维护用户画像，基于真实学习行为更新。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09/17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上下文理解机制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解决“我不会”“再讲一遍”“这道题”等模糊输入。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用户代理先读取历史对话和最近题目。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把模糊表达改写为明确、可独立理解的请求。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保留 already_answered 和 avoid_repeating，降低复读概率。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主代理基于优化后的输入分发给对应子代理。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783080"/>
            <a:ext cx="4709160" cy="356616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429000"/>
            <a:ext cx="47091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上下文优化日志截图占位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用户画像机制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画像由个性化代理统一维护，子代理按需读取。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数据来源：题目提交、课程进度、提示/答案查看、停留时长、连续失败等。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画像字段：用户类型、学习风格、薄弱主题、知识点掌握度、推荐难度。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使用方式：QA、练习、评测代理各自读取画像，调整输出深度和反馈粒度。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当前结构：系统入口同步真实行为数据，主代理只分发，子代理自己处理画像。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783080"/>
            <a:ext cx="4709160" cy="356616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429000"/>
            <a:ext cx="47091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用户画像数据结构 / 个人中心截图占位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题目结构统一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统一课程题、题库题和智能体生成题，方便后续扩展。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713232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question_id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唯一题目编号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713232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题目来源：课程/题库/AI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713232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知识主题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770632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770632"/>
            <a:ext cx="73152" cy="713232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898648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difficulty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300984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题目难度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770632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770632"/>
            <a:ext cx="73152" cy="713232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2898648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300984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题目描述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770632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2770632"/>
            <a:ext cx="73152" cy="713232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2898648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starter_code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300984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初始代码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803904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803904"/>
            <a:ext cx="73152" cy="713232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3931920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hidden_tests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4334256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隐藏测试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803904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3803904"/>
            <a:ext cx="73152" cy="713232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1" y="3931920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hints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1" y="4334256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分级提示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803904"/>
            <a:ext cx="333756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803904"/>
            <a:ext cx="73152" cy="713232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1" y="3931920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answer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4334256"/>
            <a:ext cx="3044952" cy="9143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参考答案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" y="5212080"/>
            <a:ext cx="10149840" cy="54864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349240"/>
            <a:ext cx="101498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题目详情页截图 / QUESTION_SCHEMA 截图占位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代码评测与反馈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从“判断对错”进一步走向“解释为什么错、下一步怎么改”。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支持用户提交代码并运行基础检测。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结合题目要求、测试结果和代码结构生成反馈。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反馈内容包括错误原因、修改建议、可继续练习的方向。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评测行为也会进入用户画像，为后续推荐提供依据。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73152" cy="8229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对学生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知道哪里错、为什么错、下一步怎么修。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4709160"/>
            <a:ext cx="73152" cy="82296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对教师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减少重复答疑，辅助观察共性错误。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4709160"/>
            <a:ext cx="73152" cy="82296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对平台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沉淀数据，提升推荐和个性化反馈。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783080"/>
            <a:ext cx="4709160" cy="301752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154679"/>
            <a:ext cx="47091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代码评测页面截图占位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45分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性能、效率与可用性设计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面向小规模教学和比赛演示，优先保证稳定、清晰、可部署。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0515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轻量部署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FastAPI 后端 + 静态前端，可部署到普通云服务器。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05156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并发控制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服务端设置智能体调用并发限制，避免模型请求堆积。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05156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超时容错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大模型不可用时给出降级提示，避免系统完全无响应。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108960"/>
            <a:ext cx="73152" cy="1051560"/>
          </a:xfrm>
          <a:prstGeom prst="rect">
            <a:avLst/>
          </a:prstGeom>
          <a:solidFill>
            <a:srgbClr val="2E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日志追踪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记录用户代理、主代理、子代理之间的输入输出。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08960"/>
            <a:ext cx="73152" cy="1051560"/>
          </a:xfrm>
          <a:prstGeom prst="rect">
            <a:avLst/>
          </a:prstGeom>
          <a:solidFill>
            <a:srgbClr val="CD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结构解耦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主代理只分发，画像由个性化代理维护，子代理读取。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108960"/>
            <a:ext cx="333756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108960"/>
            <a:ext cx="73152" cy="10515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32369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后续优化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639312"/>
            <a:ext cx="3044952" cy="4297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可继续加入缓存、队列、模型分级调用和监控。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应用价值 + 技术价值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80分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当前成果展示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已完成可运行 Web 原型，可支持小范围演示和测试。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349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完成登录、课程学习、题库练习、智能问答、练习生成、代码评测、个人中心等模块。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完成多智能体协作链路：用户代理、主代理、QA 代理、练习代理、评测代理、个性化代理。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完成用户画像接入：真实学习行为数据进入个性化代理，由子代理自行读取使用。</a:t>
            </a:r>
          </a:p>
          <a:p>
            <a:pPr marL="342900" indent="-171450">
              <a:spcAft>
                <a:spcPts val="700"/>
              </a:spcAft>
              <a:defRPr sz="1500">
                <a:solidFill>
                  <a:srgbClr val="3A414B"/>
                </a:solidFill>
                <a:latin typeface="Microsoft YaHei"/>
              </a:defRPr>
            </a:pPr>
            <a:r>
              <a:t>完成题目结构统一，便于后续继续扩充题库和课程内容。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73152" cy="82296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展示重点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三账号对比同一问题输出差异。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4709160"/>
            <a:ext cx="73152" cy="82296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演示重点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连续追问当前题目，展示上下文能力。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4709160"/>
            <a:ext cx="33375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4709160"/>
            <a:ext cx="73152" cy="82296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4837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技术重点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5239512"/>
            <a:ext cx="3044952" cy="20116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日志显示代理链路和画像读取结果。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783080"/>
            <a:ext cx="4709160" cy="301752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154679"/>
            <a:ext cx="47091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系统页面组合截图占位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附加分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37744"/>
            <a:ext cx="256032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1">
                <a:solidFill>
                  <a:srgbClr val="707C8B"/>
                </a:solidFill>
                <a:latin typeface="Microsoft YaHei"/>
              </a:defRPr>
            </a:pPr>
            <a:r>
              <a:t>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技术总结与公开分享计划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针对附加分：整理项目开发过程中的技术总结和心得。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14300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分享主题一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多智能体在编程学习平台中的分工设计。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14300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分享主题二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如何处理 AI 对话中的上下文记忆。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337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14300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分享主题三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67712"/>
            <a:ext cx="3044952" cy="52120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用户画像如何接入真实学习行为。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297680"/>
            <a:ext cx="9875520" cy="1143000"/>
          </a:xfrm>
          <a:prstGeom prst="rect">
            <a:avLst/>
          </a:prstGeom>
          <a:solidFill>
            <a:srgbClr val="F2F6FA"/>
          </a:solidFill>
          <a:ln>
            <a:solidFill>
              <a:srgbClr val="AEBED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32020"/>
            <a:ext cx="9875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707C8B"/>
                </a:solidFill>
                <a:latin typeface="Microsoft YaHei"/>
              </a:defRPr>
            </a:pPr>
            <a:r>
              <a:t>知乎 / 小红书 / CSDN 分享页面截图占位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1">
                <a:solidFill>
                  <a:srgbClr val="205EA6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000" b="1">
                <a:solidFill>
                  <a:srgbClr val="162B42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43584"/>
            <a:ext cx="1060704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300" b="0">
                <a:solidFill>
                  <a:srgbClr val="707C8B"/>
                </a:solidFill>
                <a:latin typeface="Microsoft YaHei"/>
              </a:defRPr>
            </a:pPr>
            <a:r>
              <a:t>以编程学习闭环为核心，持续优化个性化学习体验。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333756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1325880"/>
          </a:xfrm>
          <a:prstGeom prst="rect">
            <a:avLst/>
          </a:prstGeom>
          <a:solidFill>
            <a:srgbClr val="20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1965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项目价值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21992"/>
            <a:ext cx="3044952" cy="7040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把课程、练习、问答、评测和推荐整合到同一平台，降低编程学习门槛。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333756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73152" cy="1325880"/>
          </a:xfrm>
          <a:prstGeom prst="rect">
            <a:avLst/>
          </a:prstGeom>
          <a:solidFill>
            <a:srgbClr val="2A8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81965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221992"/>
            <a:ext cx="3044952" cy="7040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多智能体协作、上下文补全、用户画像和统一题目结构形成可扩展技术基础。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333756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73152" cy="1325880"/>
          </a:xfrm>
          <a:prstGeom prst="rect">
            <a:avLst/>
          </a:prstGeom>
          <a:solidFill>
            <a:srgbClr val="E68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819656"/>
            <a:ext cx="3044952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162B42"/>
                </a:solidFill>
                <a:latin typeface="Microsoft YaHei"/>
              </a:defRPr>
            </a:pPr>
            <a:r>
              <a:t>应用前景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221992"/>
            <a:ext cx="3044952" cy="704087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150" b="0">
                <a:solidFill>
                  <a:srgbClr val="3A414B"/>
                </a:solidFill>
                <a:latin typeface="Microsoft YaHei"/>
              </a:defRPr>
            </a:pPr>
            <a:r>
              <a:t>可用于课程辅助答疑、课后练习推荐、小规模班级试用和竞赛展示。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39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spcAft>
                <a:spcPts val="700"/>
              </a:spcAft>
              <a:defRPr sz="1700">
                <a:solidFill>
                  <a:srgbClr val="3A414B"/>
                </a:solidFill>
                <a:latin typeface="Microsoft YaHei"/>
              </a:defRPr>
            </a:pPr>
            <a:r>
              <a:t>后续计划：扩充题库与课程内容，优化用户画像准确性，完善云端部署和教师端管理。</a:t>
            </a:r>
          </a:p>
          <a:p>
            <a:pPr marL="342900" indent="-171450">
              <a:spcAft>
                <a:spcPts val="700"/>
              </a:spcAft>
              <a:defRPr sz="1700">
                <a:solidFill>
                  <a:srgbClr val="3A414B"/>
                </a:solidFill>
                <a:latin typeface="Microsoft YaHei"/>
              </a:defRPr>
            </a:pPr>
            <a:r>
              <a:t>展示建议：用三个不同水平账号进行同题对比，直观体现个性化效果。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162B42"/>
                </a:solidFill>
                <a:latin typeface="Microsoft YaHei"/>
              </a:defRPr>
            </a:pPr>
            <a:r>
              <a:t>谢谢观看，欢迎老师批评指正。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446520"/>
            <a:ext cx="11430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defRPr sz="900" b="0">
                <a:solidFill>
                  <a:srgbClr val="707C8B"/>
                </a:solidFill>
                <a:latin typeface="Microsoft YaHe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